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本页为方案封面。方案以 ICCE 当前列表作为现状样本，讨论可复用的智能检索体验方向。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现状依据：用户提供的 ICCE 当前列表截图。截图展示了人员筛选入口及多选确认方式。另一个日期筛选截图用于支持正文对日期控件的描述。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技术附件：Projects/ICCE/ICCE Schema驱动智能查询设计方案.md。该附件包含字段模型、查询协议、接口边界和阶段计划。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椭圆 9"/>
          <p:cNvSpPr>
            <a:spLocks noGrp="1"/>
          </p:cNvSpPr>
          <p:nvPr/>
        </p:nvSpPr>
        <p:spPr>
          <a:xfrm>
            <a:off x="8953500" y="-1714500"/>
            <a:ext cx="4762500" cy="4762500"/>
          </a:xfrm>
          <a:prstGeom prst="ellipse">
            <a:avLst/>
          </a:prstGeom>
          <a:noFill/>
          <a:ln w="9525">
            <a:solidFill>
              <a:srgbClr val="3A77D8"/>
            </a:solidFill>
            <a:prstDash val="solid"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9620250" y="4572000"/>
            <a:ext cx="3429000" cy="3429000"/>
          </a:xfrm>
          <a:prstGeom prst="ellipse">
            <a:avLst/>
          </a:prstGeom>
          <a:noFill/>
          <a:ln w="9525">
            <a:solidFill>
              <a:srgbClr val="D9EF75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8953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产品方向研究</a:t>
            </a:r>
            <a:endParaRPr sz="1125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169545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9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39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3048000"/>
            <a:ext cx="628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在现有搜索能力之上，降低复杂检索的理解和操作成本</a:t>
            </a:r>
            <a:endParaRPr sz="1725">
              <a:solidFill>
                <a:srgbClr val="D8E7F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876300" y="4171950"/>
            <a:ext cx="6191250" cy="0"/>
          </a:xfrm>
          <a:prstGeom prst="line">
            <a:avLst/>
          </a:prstGeom>
          <a:noFill/>
          <a:ln w="9525">
            <a:solidFill>
              <a:srgbClr val="5E82B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44005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现状样本：ICCE 当前列表</a:t>
            </a:r>
            <a:endParaRPr sz="1125">
              <a:solidFill>
                <a:srgbClr val="9DB8D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4762500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核心判断：增强现有搜索，不替代原有筛选</a:t>
            </a:r>
            <a:endParaRPr sz="13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76300" y="61912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讨论稿 2026 年 9 月 17 日</a:t>
            </a:r>
            <a:endParaRPr sz="900">
              <a:solidFill>
                <a:srgbClr val="9DB8D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 / 当前现状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ICCE 当前列表已经具备确定性搜索能力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人员、日期等字段都有明确的筛选入口，查询结果继续回到原列表呈现。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038350"/>
            <a:ext cx="5486400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7162800" y="2038350"/>
            <a:ext cx="43434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467600" y="2343150"/>
            <a:ext cx="1009650" cy="285750"/>
          </a:xfrm>
          <a:prstGeom prst="roundRect">
            <a:avLst>
              <a:gd name="adj" fmla="val 50000"/>
            </a:avLst>
          </a:prstGeom>
          <a:solidFill>
            <a:srgbClr val="1D63D6"/>
          </a:solidFill>
          <a:ln w="0">
            <a:solidFill>
              <a:srgbClr val="1D63D6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已有能力</a:t>
            </a:r>
            <a:endParaRPr sz="9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67600" y="28765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962900" y="285750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按字段逐项筛选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62900" y="316230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覆盖编号、项目名称、客户、负责人、申请时间和状态等常见字段。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67600" y="373380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62900" y="371475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不同字段使用不同控件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62900" y="401955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人员支持搜索和多选，日期支持起止日期和日历选择。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67600" y="45910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962900" y="457200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原列表继续承担结果呈现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962900" y="4876800"/>
            <a:ext cx="3124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分页、状态和办理入口保持不变，现有执行链路是增强体验的基础。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 / 检索问题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真正的成本在于把业务想法翻译成系统条件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单字段查询足够直接，多个条件组合时，用户需要自己记字段、找入口、拆解意图并反复试错。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2038350"/>
            <a:ext cx="10820400" cy="1104900"/>
          </a:xfrm>
          <a:prstGeom prst="roundRect">
            <a:avLst>
              <a:gd name="adj" fmla="val 13793"/>
            </a:avLst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2305050"/>
            <a:ext cx="962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用户知道想查什么，但不一定知道怎么填</a:t>
            </a:r>
            <a:endParaRPr sz="22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7813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问题不是搜索不存在，而是完成一次复杂检索需要付出更多认知和操作成本。</a:t>
            </a:r>
            <a:endParaRPr sz="1200">
              <a:solidFill>
                <a:srgbClr val="D8E7F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6385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3619500"/>
            <a:ext cx="2743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业务表达和字段表达有距离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81100" y="392430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例如“最近负责的、还没完成的项目”，需要用户自行拆成负责人、时间和状态。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76750" y="36385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72050" y="3619500"/>
            <a:ext cx="2743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多个条件分散在多个入口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972050" y="392430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每个字段都要单独打开、填写和确认，条件之间的关系主要依靠记忆。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48650" y="36385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43950" y="3619500"/>
            <a:ext cx="2743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结果异常时需要逐项排查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43950" y="3924300"/>
            <a:ext cx="2743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结果为空或过多时，用户很难判断应该调整哪一个条件。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 / 方案方向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增加检索增强层，让用户从业务表达开始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入口可以是自然语言、查询模板、推荐条件或统一搜索框，最终都回到结构化条件和原有查询执行链路。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2419350"/>
            <a:ext cx="23431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26289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310515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表达检索意图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56235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从业务问题出发，也可以继续使用列筛选。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3057525" y="3467100"/>
            <a:ext cx="114300" cy="0"/>
          </a:xfrm>
          <a:prstGeom prst="line">
            <a:avLst/>
          </a:prstGeom>
          <a:noFill/>
          <a:ln w="19050">
            <a:solidFill>
              <a:srgbClr val="1D63D6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3200400" y="2419350"/>
            <a:ext cx="23431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09950" y="26289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409950" y="310515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生成检索条件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09950" y="356235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映射字段、关系、操作符和值，标出歧义。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572125" y="3467100"/>
            <a:ext cx="114300" cy="0"/>
          </a:xfrm>
          <a:prstGeom prst="line">
            <a:avLst/>
          </a:prstGeom>
          <a:noFill/>
          <a:ln w="19050">
            <a:solidFill>
              <a:srgbClr val="1D63D6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715000" y="2419350"/>
            <a:ext cx="23431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24550" y="26289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24550" y="310515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查看并调整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924550" y="356235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支持删除、修改、补充和回到手工筛选。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8086725" y="3467100"/>
            <a:ext cx="114300" cy="0"/>
          </a:xfrm>
          <a:prstGeom prst="line">
            <a:avLst/>
          </a:prstGeom>
          <a:noFill/>
          <a:ln w="19050">
            <a:solidFill>
              <a:srgbClr val="1D63D6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229600" y="2419350"/>
            <a:ext cx="23431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39150" y="262890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8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39150" y="310515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沿用现有执行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39150" y="3562350"/>
            <a:ext cx="19240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遵守权限、分页、排序和原有查询规则。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85800" y="4972050"/>
            <a:ext cx="5238750" cy="723900"/>
          </a:xfrm>
          <a:prstGeom prst="roundRect">
            <a:avLst>
              <a:gd name="adj" fmla="val 15789"/>
            </a:avLst>
          </a:prstGeom>
          <a:solidFill>
            <a:srgbClr val="EDF0F4"/>
          </a:solidFill>
          <a:ln w="0">
            <a:solidFill>
              <a:srgbClr val="EDF0F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51435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现有搜索的价值</a:t>
            </a:r>
            <a:endParaRPr sz="1200" b="1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4400" y="53911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条件明确、结果可控、行为稳定</a:t>
            </a:r>
            <a:endParaRPr sz="1275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267450" y="4972050"/>
            <a:ext cx="5238750" cy="723900"/>
          </a:xfrm>
          <a:prstGeom prst="roundRect">
            <a:avLst>
              <a:gd name="adj" fmla="val 15789"/>
            </a:avLst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96050" y="51435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增强层新增的价值</a:t>
            </a:r>
            <a:endParaRPr sz="1200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96050" y="53911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降低字段记忆和入口查找成本</a:t>
            </a:r>
            <a:endParaRPr sz="1275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 / 职责边界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智能层负责理解，业务系统负责判断和执行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用户看到的是可解释的条件，系统执行的是经过校验的查询参数。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2133600"/>
            <a:ext cx="3905250" cy="2857500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 w="9525">
            <a:solidFill>
              <a:srgbClr val="BBD5F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71550" y="2400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23E9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123E91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智能检索层</a:t>
            </a:r>
            <a:endParaRPr sz="1950" b="1">
              <a:solidFill>
                <a:srgbClr val="123E91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3009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理解用户表达</a:t>
            </a:r>
            <a:endParaRPr sz="135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3390900"/>
            <a:ext cx="3048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识别查询对象、字段、关系和值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处理别名、歧义和补充问题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>
              <a:def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生成可查看、可编辑的条件草稿</a:t>
            </a:r>
            <a:endParaRPr sz="120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895850" y="3200400"/>
            <a:ext cx="2400300" cy="742950"/>
          </a:xfrm>
          <a:prstGeom prst="roundRect">
            <a:avLst>
              <a:gd name="adj" fmla="val 15385"/>
            </a:avLst>
          </a:prstGeom>
          <a:solidFill>
            <a:srgbClr val="D9EF75"/>
          </a:solidFill>
          <a:ln w="0">
            <a:solidFill>
              <a:srgbClr val="D9EF7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143500" y="34290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结构化检索条件</a:t>
            </a:r>
            <a:endParaRPr sz="15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3905250" y="3571875"/>
            <a:ext cx="971550" cy="0"/>
          </a:xfrm>
          <a:prstGeom prst="line">
            <a:avLst/>
          </a:prstGeom>
          <a:noFill/>
          <a:ln w="19050">
            <a:solidFill>
              <a:srgbClr val="1D63D6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296150" y="3571875"/>
            <a:ext cx="971550" cy="0"/>
          </a:xfrm>
          <a:prstGeom prst="line">
            <a:avLst/>
          </a:prstGeom>
          <a:noFill/>
          <a:ln w="19050">
            <a:solidFill>
              <a:srgbClr val="1D63D6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8267700" y="2133600"/>
            <a:ext cx="3238500" cy="2857500"/>
          </a:xfrm>
          <a:prstGeom prst="roundRect">
            <a:avLst>
              <a:gd name="adj" fmla="val 5333"/>
            </a:avLst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72500" y="24003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业务系统</a:t>
            </a:r>
            <a:endParaRPr sz="19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572500" y="30099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校验并执行查询</a:t>
            </a:r>
            <a:endParaRPr sz="1350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572500" y="3390900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校验字段和值是否支持</a:t>
            </a:r>
            <a:endParaRPr sz="1200">
              <a:solidFill>
                <a:srgbClr val="D8E7F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>
              <a:def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按权限控制可用范围</a:t>
            </a:r>
            <a:endParaRPr sz="1200">
              <a:solidFill>
                <a:srgbClr val="D8E7F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>
              <a:def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复用分页、排序和原有接口</a:t>
            </a:r>
            <a:endParaRPr sz="1200">
              <a:solidFill>
                <a:srgbClr val="D8E7F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5505450"/>
            <a:ext cx="819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用户拥有最后确认权，传统筛选始终保留。</a:t>
            </a:r>
            <a:endParaRPr sz="142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 / 能力模型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先统一检索条件，再叠加不同入口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筛选器、查询模板和智能入口共享字段语义与查询协议，避免每个页面单独建设一套逻辑。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685800" y="2095500"/>
          <a:ext cx="10820400" cy="3143250"/>
        </p:xfrm>
        <a:graphic>
          <a:graphicData uri="http://schemas.openxmlformats.org/drawingml/2006/table">
            <a:tbl>
              <a:tblPr firstRow="1" bandRow="1"/>
              <a:tblGrid>
                <a:gridCol w="1809750"/>
                <a:gridCol w="4953000"/>
                <a:gridCol w="4057650"/>
              </a:tblGrid>
              <a:tr h="523875">
                <a:tc>
                  <a:txBody>
                    <a:bodyPr/>
                    <a:lstStyle/>
                    <a:p>
                      <a:r>
                        <a:t>能力层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主要职责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形成的结果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业务语义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维护字段名称、别名、状态含义和可选值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系统知道用户说法对应哪些字段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意图理解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识别查询对象、条件、关系和歧义项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形成可解释的条件草稿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条件确认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展示结果，支持修改、删除、补充和回退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用户知道系统将要查什么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业务校验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校验字段、值、权限和现有接口是否支持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不明确或不支持的条件不执行</a:t>
                      </a:r>
                    </a:p>
                  </a:txBody>
                  <a:tcPr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查询适配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把确认后的条件转换为已有搜索参数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复用原有列表数据和查询链路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85800" y="55816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AA6D1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AA6D1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自然语言只是入口之一。相同的条件模型也可以服务于查询模板和常用条件推荐。</a:t>
            </a:r>
            <a:endParaRPr sz="1200">
              <a:solidFill>
                <a:srgbClr val="AA6D1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 / 验证路径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先验证检索问题，再选择合适的增强方式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以 ICCE 当前列表作为一个具体样本，先测现有方式的成本，再比较筛选优化、模板、条件编排和智能入口。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857250" y="2857500"/>
            <a:ext cx="10096500" cy="0"/>
          </a:xfrm>
          <a:prstGeom prst="line">
            <a:avLst/>
          </a:prstGeom>
          <a:noFill/>
          <a:ln w="28575">
            <a:solidFill>
              <a:srgbClr val="D4DDE8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685800" y="2686050"/>
            <a:ext cx="361950" cy="361950"/>
          </a:xfrm>
          <a:prstGeom prst="ellipse">
            <a:avLst/>
          </a:prstGeom>
          <a:solidFill>
            <a:srgbClr val="D9EF75"/>
          </a:solidFill>
          <a:ln w="19050">
            <a:solidFill>
              <a:srgbClr val="1D63D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32575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阶段一</a:t>
            </a:r>
            <a:endParaRPr sz="105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543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收集真实问题</a:t>
            </a:r>
            <a:endParaRPr sz="157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943350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记录高频查询、常用字段和空结果场景。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3390900" y="2686050"/>
            <a:ext cx="361950" cy="361950"/>
          </a:xfrm>
          <a:prstGeom prst="ellipse">
            <a:avLst/>
          </a:prstGeom>
          <a:solidFill>
            <a:srgbClr val="D9EF75"/>
          </a:solidFill>
          <a:ln w="19050">
            <a:solidFill>
              <a:srgbClr val="1D63D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90900" y="32575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阶段二</a:t>
            </a:r>
            <a:endParaRPr sz="105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90900" y="3543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建立检索基线</a:t>
            </a:r>
            <a:endParaRPr sz="157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90900" y="3943350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记录完成时间、操作步骤和首次成功率。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096000" y="2686050"/>
            <a:ext cx="361950" cy="361950"/>
          </a:xfrm>
          <a:prstGeom prst="ellipse">
            <a:avLst/>
          </a:prstGeom>
          <a:solidFill>
            <a:srgbClr val="D9EF75"/>
          </a:solidFill>
          <a:ln w="19050">
            <a:solidFill>
              <a:srgbClr val="1D63D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0" y="32575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阶段三</a:t>
            </a:r>
            <a:endParaRPr sz="105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0" y="3543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比较增强方案</a:t>
            </a:r>
            <a:endParaRPr sz="157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0" y="3943350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比较不同入口对理解和操作成本的改善。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椭圆 16"/>
          <p:cNvSpPr>
            <a:spLocks noGrp="1"/>
          </p:cNvSpPr>
          <p:nvPr/>
        </p:nvSpPr>
        <p:spPr>
          <a:xfrm>
            <a:off x="8801100" y="2686050"/>
            <a:ext cx="361950" cy="361950"/>
          </a:xfrm>
          <a:prstGeom prst="ellipse">
            <a:avLst/>
          </a:prstGeom>
          <a:solidFill>
            <a:srgbClr val="D9EF75"/>
          </a:solidFill>
          <a:ln w="19050">
            <a:solidFill>
              <a:srgbClr val="1D63D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801100" y="32575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阶段四</a:t>
            </a:r>
            <a:endParaRPr sz="105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801100" y="3543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小范围验证</a:t>
            </a:r>
            <a:endParaRPr sz="157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01100" y="3943350"/>
            <a:ext cx="2238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验证条件理解、确认体验和实际效率。</a:t>
            </a:r>
            <a:endParaRPr sz="11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45" name="表格 44"/>
          <p:cNvGraphicFramePr/>
          <p:nvPr/>
        </p:nvGraphicFramePr>
        <p:xfrm>
          <a:off x="685800" y="4648200"/>
          <a:ext cx="10820400" cy="1524000"/>
        </p:xfrm>
        <a:graphic>
          <a:graphicData uri="http://schemas.openxmlformats.org/drawingml/2006/table">
            <a:tbl>
              <a:tblPr firstRow="1" bandRow="1"/>
              <a:tblGrid>
                <a:gridCol w="1809750"/>
                <a:gridCol w="4953000"/>
                <a:gridCol w="4057650"/>
              </a:tblGrid>
              <a:tr h="219075">
                <a:tc>
                  <a:txBody>
                    <a:bodyPr/>
                    <a:lstStyle/>
                    <a:p>
                      <a:r>
                        <a:t>观察维度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需要回答的问题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建议指标</a:t>
                      </a:r>
                    </a:p>
                  </a:txBody>
                  <a:tcPr/>
                </a:tc>
              </a:tr>
              <a:tr h="219075">
                <a:tc>
                  <a:txBody>
                    <a:bodyPr/>
                    <a:lstStyle/>
                    <a:p>
                      <a:r>
                        <a:t>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复杂检索是否更快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完成时间、操作步骤、回退次数</a:t>
                      </a:r>
                    </a:p>
                  </a:txBody>
                  <a:tcPr/>
                </a:tc>
              </a:tr>
              <a:tr h="219075">
                <a:tc>
                  <a:txBody>
                    <a:bodyPr/>
                    <a:lstStyle/>
                    <a:p>
                      <a:r>
                        <a:t>理解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用户是否能确认系统将要查询的内容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条件修改率、确认通过率</a:t>
                      </a:r>
                    </a:p>
                  </a:txBody>
                  <a:tcPr/>
                </a:tc>
              </a:tr>
              <a:tr h="219075"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是否更容易得到可用结果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首次成功率、空结果调整次数</a:t>
                      </a:r>
                    </a:p>
                  </a:txBody>
                  <a:tcPr/>
                </a:tc>
              </a:tr>
              <a:tr h="219075">
                <a:tc>
                  <a:txBody>
                    <a:bodyPr/>
                    <a:lstStyle/>
                    <a:p>
                      <a:r>
                        <a:t>兼容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增强入口是否影响原有搜索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传统入口可用性、结果一致性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直接连接符 21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07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685800" y="361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07 / 落地原则</a:t>
            </a:r>
            <a:endParaRPr sz="975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4770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700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以复用现有能力为前提控制投入</a:t>
            </a:r>
            <a:endParaRPr sz="2700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57300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落地重点是字段语义、统一条件表达、确认交互和接口适配，不重做列表数据链路。</a:t>
            </a:r>
            <a:endParaRPr sz="13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2095500"/>
            <a:ext cx="333375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95350" y="2305050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1D63D6"/>
          </a:solidFill>
          <a:ln w="0">
            <a:solidFill>
              <a:srgbClr val="1D63D6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复用</a:t>
            </a:r>
            <a:endParaRPr sz="9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686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沿用现有搜索执行</a:t>
            </a:r>
            <a:endParaRPr sz="142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0099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继续使用既有分页、排序、权限和列表接口。</a:t>
            </a:r>
            <a:endParaRPr sz="10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05300" y="2095500"/>
            <a:ext cx="333375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4514850" y="2279015"/>
            <a:ext cx="714375" cy="248400"/>
          </a:xfrm>
          <a:prstGeom prst="roundRect">
            <a:avLst>
              <a:gd name="adj" fmla="val 50000"/>
            </a:avLst>
          </a:prstGeom>
          <a:solidFill>
            <a:srgbClr val="AA6D19"/>
          </a:solidFill>
          <a:ln w="0">
            <a:solidFill>
              <a:srgbClr val="AA6D19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可解释</a:t>
            </a:r>
            <a:endParaRPr sz="9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514850" y="2686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条件必须可见可改</a:t>
            </a:r>
            <a:endParaRPr sz="142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14850" y="30099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模型输出先进入确认环节，不直接作为最终查询。</a:t>
            </a:r>
            <a:endParaRPr sz="10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924800" y="2095500"/>
            <a:ext cx="3333750" cy="13335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4DDE8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34350" y="2305050"/>
            <a:ext cx="714375" cy="247650"/>
          </a:xfrm>
          <a:prstGeom prst="roundRect">
            <a:avLst>
              <a:gd name="adj" fmla="val 50000"/>
            </a:avLst>
          </a:prstGeom>
          <a:solidFill>
            <a:srgbClr val="1D63D6"/>
          </a:solidFill>
          <a:ln w="0">
            <a:solidFill>
              <a:srgbClr val="1D63D6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可扩展</a:t>
            </a:r>
            <a:endParaRPr sz="9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34350" y="2686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 b="1">
                <a:solidFill>
                  <a:srgbClr val="10233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建立统一条件模型</a:t>
            </a:r>
            <a:endParaRPr sz="1425" b="1">
              <a:solidFill>
                <a:srgbClr val="10233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34350" y="30099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让筛选器、模板和智能入口共享同一套语义。</a:t>
            </a:r>
            <a:endParaRPr sz="1050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35" name="表格 34"/>
          <p:cNvGraphicFramePr/>
          <p:nvPr/>
        </p:nvGraphicFramePr>
        <p:xfrm>
          <a:off x="685800" y="3790950"/>
          <a:ext cx="10820400" cy="1809750"/>
        </p:xfrm>
        <a:graphic>
          <a:graphicData uri="http://schemas.openxmlformats.org/drawingml/2006/table">
            <a:tbl>
              <a:tblPr firstRow="1" bandRow="1"/>
              <a:tblGrid>
                <a:gridCol w="2095500"/>
                <a:gridCol w="4953000"/>
                <a:gridCol w="3771900"/>
              </a:tblGrid>
              <a:tr h="361950">
                <a:tc>
                  <a:txBody>
                    <a:bodyPr/>
                    <a:lstStyle/>
                    <a:p>
                      <a: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控制方式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落地要求</a:t>
                      </a:r>
                    </a:p>
                  </a:txBody>
                  <a:tcPr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理解错误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展示条件、用户确认、歧义项要求选择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不确定时提示补充，不直接执行</a:t>
                      </a:r>
                    </a:p>
                  </a:txBody>
                  <a:tcPr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越权查询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服务端按权限控制可用字段并执行前校验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不依赖前端隐藏控件或模型判断</a:t>
                      </a:r>
                    </a:p>
                  </a:txBody>
                  <a:tcPr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结果不一致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统一条件模型并对照现有参数规则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不同入口执行结果保持一致</a:t>
                      </a:r>
                    </a:p>
                  </a:txBody>
                  <a:tcPr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使用率不足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从高频复杂检索切入并保留传统入口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用真实数据决定继续投入的场景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直接连接符 16"/>
          <p:cNvSpPr>
            <a:spLocks noGrp="1"/>
          </p:cNvSpPr>
          <p:nvPr/>
        </p:nvSpPr>
        <p:spPr>
          <a:xfrm>
            <a:off x="685800" y="6477000"/>
            <a:ext cx="10820400" cy="0"/>
          </a:xfrm>
          <a:prstGeom prst="line">
            <a:avLst/>
          </a:prstGeom>
          <a:noFill/>
          <a:ln w="9525">
            <a:solidFill>
              <a:srgbClr val="D4DD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57225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496079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496079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953750" y="655320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1D63D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08</a:t>
            </a:r>
            <a:endParaRPr sz="900" b="1">
              <a:solidFill>
                <a:srgbClr val="1D63D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4191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75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08 / 下一步</a:t>
            </a:r>
            <a:endParaRPr sz="975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429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8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下一步需要确认的是验证方向</a:t>
            </a:r>
            <a:endParaRPr sz="28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4097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D8E7FB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先形成一个小而完整的验证闭环，再根据证据决定产品形态、技术投入和适用范围。</a:t>
            </a:r>
            <a:endParaRPr sz="1350">
              <a:solidFill>
                <a:srgbClr val="D8E7FB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4193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800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71600" y="23812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进入样本研究</a:t>
            </a:r>
            <a:endParaRPr sz="15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71600" y="27241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FD1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BFD1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以 ICCE 当前列表作为可观察样本，收集真实查询任务和操作基线。</a:t>
            </a:r>
            <a:endParaRPr sz="1125">
              <a:solidFill>
                <a:srgbClr val="BFD1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371600" y="3162300"/>
            <a:ext cx="9144000" cy="0"/>
          </a:xfrm>
          <a:prstGeom prst="line">
            <a:avLst/>
          </a:prstGeom>
          <a:noFill/>
          <a:ln w="9525">
            <a:solidFill>
              <a:srgbClr val="36558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33909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800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335280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保留现有搜索作为执行基础</a:t>
            </a:r>
            <a:endParaRPr sz="15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369570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FD1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BFD1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手工筛选、模板和智能表达最终都通过可校验的结构化条件执行。</a:t>
            </a:r>
            <a:endParaRPr sz="1125">
              <a:solidFill>
                <a:srgbClr val="BFD1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371600" y="4133850"/>
            <a:ext cx="9144000" cy="0"/>
          </a:xfrm>
          <a:prstGeom prst="line">
            <a:avLst/>
          </a:prstGeom>
          <a:noFill/>
          <a:ln w="9525">
            <a:solidFill>
              <a:srgbClr val="365580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43624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800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4324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共同定义边界</a:t>
            </a:r>
            <a:endParaRPr sz="1575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71600" y="46672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BFD1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BFD1E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产品、前端、后端和安全共同确定字段语义、权限、数据处理和指标。</a:t>
            </a:r>
            <a:endParaRPr sz="1125">
              <a:solidFill>
                <a:srgbClr val="BFD1E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685800" y="5619750"/>
            <a:ext cx="10820400" cy="0"/>
          </a:xfrm>
          <a:prstGeom prst="line">
            <a:avLst/>
          </a:prstGeom>
          <a:noFill/>
          <a:ln w="9525">
            <a:solidFill>
              <a:srgbClr val="36558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58674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技术承接：ICCE Schema 驱动智能查询设计方案.md</a:t>
            </a:r>
            <a:endParaRPr sz="1125">
              <a:solidFill>
                <a:srgbClr val="9DB8D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825">
                <a:solidFill>
                  <a:srgbClr val="9DB8DC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智能检索体验优化方向</a:t>
            </a:r>
            <a:endParaRPr sz="825">
              <a:solidFill>
                <a:srgbClr val="9DB8DC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953750" y="6457950"/>
            <a:ext cx="552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900" b="1">
                <a:solidFill>
                  <a:srgbClr val="D9EF75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09</a:t>
            </a:r>
            <a:endParaRPr sz="900" b="1">
              <a:solidFill>
                <a:srgbClr val="D9EF75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2118</Words>
  <Application>WPS 演示</Application>
  <PresentationFormat>Converted Presentation</PresentationFormat>
  <Paragraphs>346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Helvetica Neue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任金龙</cp:lastModifiedBy>
  <cp:revision>1</cp:revision>
  <dcterms:created xsi:type="dcterms:W3CDTF">2026-09-17T02:20:54Z</dcterms:created>
  <dcterms:modified xsi:type="dcterms:W3CDTF">2026-09-17T02:20:54Z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BBC054C239FC4061864EAB6A6EE863A5_42</vt:lpwstr>
  </property>
</Properties>
</file>